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</p:sldMasterIdLst>
  <p:sldIdLst>
    <p:sldId id="280" r:id="rId2"/>
    <p:sldId id="281" r:id="rId3"/>
    <p:sldId id="261" r:id="rId4"/>
    <p:sldId id="275" r:id="rId5"/>
    <p:sldId id="262" r:id="rId6"/>
    <p:sldId id="276" r:id="rId7"/>
    <p:sldId id="277" r:id="rId8"/>
    <p:sldId id="278" r:id="rId9"/>
    <p:sldId id="279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8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BAD3E8-4652-45AB-9E77-0E459326ADC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297AA88-A3D6-428D-BD9C-5EF428B1C1F2}">
      <dgm:prSet phldrT="[Text]"/>
      <dgm:spPr/>
      <dgm:t>
        <a:bodyPr/>
        <a:lstStyle/>
        <a:p>
          <a:r>
            <a:rPr lang="en-GB"/>
            <a:t>Learned the difficulties of mapping EEG signals to image formats.</a:t>
          </a:r>
        </a:p>
      </dgm:t>
    </dgm:pt>
    <dgm:pt modelId="{5E75EBFD-AE26-47B3-9A0E-ECC5403DA13C}" type="parTrans" cxnId="{B5A6E4FB-9184-436D-AAC6-EE8885BD1291}">
      <dgm:prSet/>
      <dgm:spPr/>
      <dgm:t>
        <a:bodyPr/>
        <a:lstStyle/>
        <a:p>
          <a:endParaRPr lang="en-GB"/>
        </a:p>
      </dgm:t>
    </dgm:pt>
    <dgm:pt modelId="{16884CEA-9AC5-408D-8F03-CCCFCBF410D2}" type="sibTrans" cxnId="{B5A6E4FB-9184-436D-AAC6-EE8885BD1291}">
      <dgm:prSet/>
      <dgm:spPr/>
      <dgm:t>
        <a:bodyPr/>
        <a:lstStyle/>
        <a:p>
          <a:endParaRPr lang="en-GB"/>
        </a:p>
      </dgm:t>
    </dgm:pt>
    <dgm:pt modelId="{2E8794FC-95A3-48B2-B8F8-62683659C097}">
      <dgm:prSet/>
      <dgm:spPr/>
      <dgm:t>
        <a:bodyPr/>
        <a:lstStyle/>
        <a:p>
          <a:r>
            <a:rPr lang="en-GB"/>
            <a:t>Understood how transfer-learning models behave with low-variance datasets.</a:t>
          </a:r>
        </a:p>
      </dgm:t>
    </dgm:pt>
    <dgm:pt modelId="{56CEBF49-0FBB-4A3D-95A8-7317A2C2473F}" type="parTrans" cxnId="{3F8FFDE3-EAE6-43E4-85C4-5281503E262E}">
      <dgm:prSet/>
      <dgm:spPr/>
      <dgm:t>
        <a:bodyPr/>
        <a:lstStyle/>
        <a:p>
          <a:endParaRPr lang="en-GB"/>
        </a:p>
      </dgm:t>
    </dgm:pt>
    <dgm:pt modelId="{7C81FF21-69C7-4177-BA82-89A9AA046656}" type="sibTrans" cxnId="{3F8FFDE3-EAE6-43E4-85C4-5281503E262E}">
      <dgm:prSet/>
      <dgm:spPr/>
      <dgm:t>
        <a:bodyPr/>
        <a:lstStyle/>
        <a:p>
          <a:endParaRPr lang="en-GB"/>
        </a:p>
      </dgm:t>
    </dgm:pt>
    <dgm:pt modelId="{5DA9A704-F300-488C-ABD9-FCA050A7260E}">
      <dgm:prSet/>
      <dgm:spPr/>
      <dgm:t>
        <a:bodyPr/>
        <a:lstStyle/>
        <a:p>
          <a:r>
            <a:rPr lang="en-GB"/>
            <a:t>Gained experience fine-tuning pre-trained architectures.</a:t>
          </a:r>
        </a:p>
      </dgm:t>
    </dgm:pt>
    <dgm:pt modelId="{A142A386-2D86-4697-9A4E-1FA3B26AF678}" type="parTrans" cxnId="{DDF22A62-29E4-4F75-B243-6F8DFE838D61}">
      <dgm:prSet/>
      <dgm:spPr/>
      <dgm:t>
        <a:bodyPr/>
        <a:lstStyle/>
        <a:p>
          <a:endParaRPr lang="en-GB"/>
        </a:p>
      </dgm:t>
    </dgm:pt>
    <dgm:pt modelId="{BE2020F6-EAC7-4047-BC7D-1B2E1E5050AA}" type="sibTrans" cxnId="{DDF22A62-29E4-4F75-B243-6F8DFE838D61}">
      <dgm:prSet/>
      <dgm:spPr/>
      <dgm:t>
        <a:bodyPr/>
        <a:lstStyle/>
        <a:p>
          <a:endParaRPr lang="en-GB"/>
        </a:p>
      </dgm:t>
    </dgm:pt>
    <dgm:pt modelId="{4A5CA5C4-D8F1-401E-ADCB-6F32E12A82F7}">
      <dgm:prSet/>
      <dgm:spPr/>
      <dgm:t>
        <a:bodyPr/>
        <a:lstStyle/>
        <a:p>
          <a:r>
            <a:rPr lang="en-GB"/>
            <a:t>Studied how learning rates influence stability in deep models.</a:t>
          </a:r>
        </a:p>
      </dgm:t>
    </dgm:pt>
    <dgm:pt modelId="{F715E667-8BEA-46BD-95FC-005CF082DEB3}" type="parTrans" cxnId="{90D335BE-8110-457A-9409-E804132E7A8F}">
      <dgm:prSet/>
      <dgm:spPr/>
      <dgm:t>
        <a:bodyPr/>
        <a:lstStyle/>
        <a:p>
          <a:endParaRPr lang="en-GB"/>
        </a:p>
      </dgm:t>
    </dgm:pt>
    <dgm:pt modelId="{9C65C6B2-4E8C-4F2F-A507-ED12A2BFF82A}" type="sibTrans" cxnId="{90D335BE-8110-457A-9409-E804132E7A8F}">
      <dgm:prSet/>
      <dgm:spPr/>
      <dgm:t>
        <a:bodyPr/>
        <a:lstStyle/>
        <a:p>
          <a:endParaRPr lang="en-GB"/>
        </a:p>
      </dgm:t>
    </dgm:pt>
    <dgm:pt modelId="{B2C234A9-6F52-4BA5-9676-E0D6D104E021}">
      <dgm:prSet/>
      <dgm:spPr/>
      <dgm:t>
        <a:bodyPr/>
        <a:lstStyle/>
        <a:p>
          <a:r>
            <a:rPr lang="en-GB"/>
            <a:t>Learned to interpret overfitting patterns in accuracy plots.</a:t>
          </a:r>
        </a:p>
      </dgm:t>
    </dgm:pt>
    <dgm:pt modelId="{EE135F18-BA92-4517-B7AE-FFDDFC728B84}" type="parTrans" cxnId="{91C958A2-AB2D-4E50-B8C3-08C9AB18E50B}">
      <dgm:prSet/>
      <dgm:spPr/>
      <dgm:t>
        <a:bodyPr/>
        <a:lstStyle/>
        <a:p>
          <a:endParaRPr lang="en-GB"/>
        </a:p>
      </dgm:t>
    </dgm:pt>
    <dgm:pt modelId="{09DB2860-2F92-48A8-976A-28ECA379F6AA}" type="sibTrans" cxnId="{91C958A2-AB2D-4E50-B8C3-08C9AB18E50B}">
      <dgm:prSet/>
      <dgm:spPr/>
      <dgm:t>
        <a:bodyPr/>
        <a:lstStyle/>
        <a:p>
          <a:endParaRPr lang="en-GB"/>
        </a:p>
      </dgm:t>
    </dgm:pt>
    <dgm:pt modelId="{065DBECA-B7A7-4FED-89FB-A0E62D5BBE4F}" type="pres">
      <dgm:prSet presAssocID="{7DBAD3E8-4652-45AB-9E77-0E459326ADC1}" presName="outerComposite" presStyleCnt="0">
        <dgm:presLayoutVars>
          <dgm:chMax val="5"/>
          <dgm:dir/>
          <dgm:resizeHandles val="exact"/>
        </dgm:presLayoutVars>
      </dgm:prSet>
      <dgm:spPr/>
    </dgm:pt>
    <dgm:pt modelId="{A5C8D5A1-994B-45ED-8254-EF86957D2DA1}" type="pres">
      <dgm:prSet presAssocID="{7DBAD3E8-4652-45AB-9E77-0E459326ADC1}" presName="dummyMaxCanvas" presStyleCnt="0">
        <dgm:presLayoutVars/>
      </dgm:prSet>
      <dgm:spPr/>
    </dgm:pt>
    <dgm:pt modelId="{3841508F-3E81-465D-99D2-3C4D041B16F0}" type="pres">
      <dgm:prSet presAssocID="{7DBAD3E8-4652-45AB-9E77-0E459326ADC1}" presName="FiveNodes_1" presStyleLbl="node1" presStyleIdx="0" presStyleCnt="5">
        <dgm:presLayoutVars>
          <dgm:bulletEnabled val="1"/>
        </dgm:presLayoutVars>
      </dgm:prSet>
      <dgm:spPr/>
    </dgm:pt>
    <dgm:pt modelId="{7316FCDE-895A-4B51-A558-4A58ACBB161C}" type="pres">
      <dgm:prSet presAssocID="{7DBAD3E8-4652-45AB-9E77-0E459326ADC1}" presName="FiveNodes_2" presStyleLbl="node1" presStyleIdx="1" presStyleCnt="5">
        <dgm:presLayoutVars>
          <dgm:bulletEnabled val="1"/>
        </dgm:presLayoutVars>
      </dgm:prSet>
      <dgm:spPr/>
    </dgm:pt>
    <dgm:pt modelId="{EBEBAEFB-BB9E-4318-8A00-589F9CCC45F4}" type="pres">
      <dgm:prSet presAssocID="{7DBAD3E8-4652-45AB-9E77-0E459326ADC1}" presName="FiveNodes_3" presStyleLbl="node1" presStyleIdx="2" presStyleCnt="5">
        <dgm:presLayoutVars>
          <dgm:bulletEnabled val="1"/>
        </dgm:presLayoutVars>
      </dgm:prSet>
      <dgm:spPr/>
    </dgm:pt>
    <dgm:pt modelId="{F2726E4E-AB22-422E-87F3-DAD309C41BA8}" type="pres">
      <dgm:prSet presAssocID="{7DBAD3E8-4652-45AB-9E77-0E459326ADC1}" presName="FiveNodes_4" presStyleLbl="node1" presStyleIdx="3" presStyleCnt="5">
        <dgm:presLayoutVars>
          <dgm:bulletEnabled val="1"/>
        </dgm:presLayoutVars>
      </dgm:prSet>
      <dgm:spPr/>
    </dgm:pt>
    <dgm:pt modelId="{BF28288C-57B0-449C-8542-48BB81325060}" type="pres">
      <dgm:prSet presAssocID="{7DBAD3E8-4652-45AB-9E77-0E459326ADC1}" presName="FiveNodes_5" presStyleLbl="node1" presStyleIdx="4" presStyleCnt="5">
        <dgm:presLayoutVars>
          <dgm:bulletEnabled val="1"/>
        </dgm:presLayoutVars>
      </dgm:prSet>
      <dgm:spPr/>
    </dgm:pt>
    <dgm:pt modelId="{A8F731DB-D34B-4102-8910-0311410E8D50}" type="pres">
      <dgm:prSet presAssocID="{7DBAD3E8-4652-45AB-9E77-0E459326ADC1}" presName="FiveConn_1-2" presStyleLbl="fgAccFollowNode1" presStyleIdx="0" presStyleCnt="4">
        <dgm:presLayoutVars>
          <dgm:bulletEnabled val="1"/>
        </dgm:presLayoutVars>
      </dgm:prSet>
      <dgm:spPr/>
    </dgm:pt>
    <dgm:pt modelId="{1579B17D-6BDA-4485-983C-AA83EAB9B6F1}" type="pres">
      <dgm:prSet presAssocID="{7DBAD3E8-4652-45AB-9E77-0E459326ADC1}" presName="FiveConn_2-3" presStyleLbl="fgAccFollowNode1" presStyleIdx="1" presStyleCnt="4">
        <dgm:presLayoutVars>
          <dgm:bulletEnabled val="1"/>
        </dgm:presLayoutVars>
      </dgm:prSet>
      <dgm:spPr/>
    </dgm:pt>
    <dgm:pt modelId="{15011F2A-1D49-4AF5-AD10-4892ACDF7BDF}" type="pres">
      <dgm:prSet presAssocID="{7DBAD3E8-4652-45AB-9E77-0E459326ADC1}" presName="FiveConn_3-4" presStyleLbl="fgAccFollowNode1" presStyleIdx="2" presStyleCnt="4">
        <dgm:presLayoutVars>
          <dgm:bulletEnabled val="1"/>
        </dgm:presLayoutVars>
      </dgm:prSet>
      <dgm:spPr/>
    </dgm:pt>
    <dgm:pt modelId="{D5F4DAEF-7AFC-48DC-BD2D-3133AD325D68}" type="pres">
      <dgm:prSet presAssocID="{7DBAD3E8-4652-45AB-9E77-0E459326ADC1}" presName="FiveConn_4-5" presStyleLbl="fgAccFollowNode1" presStyleIdx="3" presStyleCnt="4">
        <dgm:presLayoutVars>
          <dgm:bulletEnabled val="1"/>
        </dgm:presLayoutVars>
      </dgm:prSet>
      <dgm:spPr/>
    </dgm:pt>
    <dgm:pt modelId="{4564A1E3-C295-42D9-B08F-0B57FABB380E}" type="pres">
      <dgm:prSet presAssocID="{7DBAD3E8-4652-45AB-9E77-0E459326ADC1}" presName="FiveNodes_1_text" presStyleLbl="node1" presStyleIdx="4" presStyleCnt="5">
        <dgm:presLayoutVars>
          <dgm:bulletEnabled val="1"/>
        </dgm:presLayoutVars>
      </dgm:prSet>
      <dgm:spPr/>
    </dgm:pt>
    <dgm:pt modelId="{4D759064-217A-4200-B252-DE70529036C4}" type="pres">
      <dgm:prSet presAssocID="{7DBAD3E8-4652-45AB-9E77-0E459326ADC1}" presName="FiveNodes_2_text" presStyleLbl="node1" presStyleIdx="4" presStyleCnt="5">
        <dgm:presLayoutVars>
          <dgm:bulletEnabled val="1"/>
        </dgm:presLayoutVars>
      </dgm:prSet>
      <dgm:spPr/>
    </dgm:pt>
    <dgm:pt modelId="{B481BB40-5A8E-423E-AB5A-D99F142A1A5E}" type="pres">
      <dgm:prSet presAssocID="{7DBAD3E8-4652-45AB-9E77-0E459326ADC1}" presName="FiveNodes_3_text" presStyleLbl="node1" presStyleIdx="4" presStyleCnt="5">
        <dgm:presLayoutVars>
          <dgm:bulletEnabled val="1"/>
        </dgm:presLayoutVars>
      </dgm:prSet>
      <dgm:spPr/>
    </dgm:pt>
    <dgm:pt modelId="{4BFE9A62-E313-4014-8878-38CD59D7224C}" type="pres">
      <dgm:prSet presAssocID="{7DBAD3E8-4652-45AB-9E77-0E459326ADC1}" presName="FiveNodes_4_text" presStyleLbl="node1" presStyleIdx="4" presStyleCnt="5">
        <dgm:presLayoutVars>
          <dgm:bulletEnabled val="1"/>
        </dgm:presLayoutVars>
      </dgm:prSet>
      <dgm:spPr/>
    </dgm:pt>
    <dgm:pt modelId="{7B714050-2A17-4EB5-90A8-5F7A7ED87DF2}" type="pres">
      <dgm:prSet presAssocID="{7DBAD3E8-4652-45AB-9E77-0E459326ADC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228C9701-E4BA-404E-9A32-5526332F98FA}" type="presOf" srcId="{16884CEA-9AC5-408D-8F03-CCCFCBF410D2}" destId="{A8F731DB-D34B-4102-8910-0311410E8D50}" srcOrd="0" destOrd="0" presId="urn:microsoft.com/office/officeart/2005/8/layout/vProcess5"/>
    <dgm:cxn modelId="{5B064F13-F503-45C7-B4D0-73C98BE5EAD6}" type="presOf" srcId="{4A5CA5C4-D8F1-401E-ADCB-6F32E12A82F7}" destId="{4BFE9A62-E313-4014-8878-38CD59D7224C}" srcOrd="1" destOrd="0" presId="urn:microsoft.com/office/officeart/2005/8/layout/vProcess5"/>
    <dgm:cxn modelId="{3E33891C-F6F9-4BD7-A785-66EEA6D45FA9}" type="presOf" srcId="{A297AA88-A3D6-428D-BD9C-5EF428B1C1F2}" destId="{3841508F-3E81-465D-99D2-3C4D041B16F0}" srcOrd="0" destOrd="0" presId="urn:microsoft.com/office/officeart/2005/8/layout/vProcess5"/>
    <dgm:cxn modelId="{BB3EAC2B-E55B-4D60-BA6B-620A28B3898A}" type="presOf" srcId="{2E8794FC-95A3-48B2-B8F8-62683659C097}" destId="{4D759064-217A-4200-B252-DE70529036C4}" srcOrd="1" destOrd="0" presId="urn:microsoft.com/office/officeart/2005/8/layout/vProcess5"/>
    <dgm:cxn modelId="{DDF22A62-29E4-4F75-B243-6F8DFE838D61}" srcId="{7DBAD3E8-4652-45AB-9E77-0E459326ADC1}" destId="{5DA9A704-F300-488C-ABD9-FCA050A7260E}" srcOrd="2" destOrd="0" parTransId="{A142A386-2D86-4697-9A4E-1FA3B26AF678}" sibTransId="{BE2020F6-EAC7-4047-BC7D-1B2E1E5050AA}"/>
    <dgm:cxn modelId="{5204C842-318D-4E28-BD7A-17FF8F95837F}" type="presOf" srcId="{B2C234A9-6F52-4BA5-9676-E0D6D104E021}" destId="{7B714050-2A17-4EB5-90A8-5F7A7ED87DF2}" srcOrd="1" destOrd="0" presId="urn:microsoft.com/office/officeart/2005/8/layout/vProcess5"/>
    <dgm:cxn modelId="{844CA763-24EE-4340-B464-CACFB70BD9F0}" type="presOf" srcId="{4A5CA5C4-D8F1-401E-ADCB-6F32E12A82F7}" destId="{F2726E4E-AB22-422E-87F3-DAD309C41BA8}" srcOrd="0" destOrd="0" presId="urn:microsoft.com/office/officeart/2005/8/layout/vProcess5"/>
    <dgm:cxn modelId="{78CDE267-6412-4768-8B4F-3CC50902E0B0}" type="presOf" srcId="{B2C234A9-6F52-4BA5-9676-E0D6D104E021}" destId="{BF28288C-57B0-449C-8542-48BB81325060}" srcOrd="0" destOrd="0" presId="urn:microsoft.com/office/officeart/2005/8/layout/vProcess5"/>
    <dgm:cxn modelId="{C20AB779-865E-448A-937A-F09A1758BAA1}" type="presOf" srcId="{5DA9A704-F300-488C-ABD9-FCA050A7260E}" destId="{B481BB40-5A8E-423E-AB5A-D99F142A1A5E}" srcOrd="1" destOrd="0" presId="urn:microsoft.com/office/officeart/2005/8/layout/vProcess5"/>
    <dgm:cxn modelId="{1587FC8E-C2A6-4689-B612-AA0A5D1D1DDC}" type="presOf" srcId="{7DBAD3E8-4652-45AB-9E77-0E459326ADC1}" destId="{065DBECA-B7A7-4FED-89FB-A0E62D5BBE4F}" srcOrd="0" destOrd="0" presId="urn:microsoft.com/office/officeart/2005/8/layout/vProcess5"/>
    <dgm:cxn modelId="{113803A2-1883-4ED6-89E4-6CBD0B15D4C0}" type="presOf" srcId="{9C65C6B2-4E8C-4F2F-A507-ED12A2BFF82A}" destId="{D5F4DAEF-7AFC-48DC-BD2D-3133AD325D68}" srcOrd="0" destOrd="0" presId="urn:microsoft.com/office/officeart/2005/8/layout/vProcess5"/>
    <dgm:cxn modelId="{91C958A2-AB2D-4E50-B8C3-08C9AB18E50B}" srcId="{7DBAD3E8-4652-45AB-9E77-0E459326ADC1}" destId="{B2C234A9-6F52-4BA5-9676-E0D6D104E021}" srcOrd="4" destOrd="0" parTransId="{EE135F18-BA92-4517-B7AE-FFDDFC728B84}" sibTransId="{09DB2860-2F92-48A8-976A-28ECA379F6AA}"/>
    <dgm:cxn modelId="{227088AB-93FA-4E10-BF77-615EED271691}" type="presOf" srcId="{BE2020F6-EAC7-4047-BC7D-1B2E1E5050AA}" destId="{15011F2A-1D49-4AF5-AD10-4892ACDF7BDF}" srcOrd="0" destOrd="0" presId="urn:microsoft.com/office/officeart/2005/8/layout/vProcess5"/>
    <dgm:cxn modelId="{263025B5-C874-4933-A4F2-03594145E1C6}" type="presOf" srcId="{7C81FF21-69C7-4177-BA82-89A9AA046656}" destId="{1579B17D-6BDA-4485-983C-AA83EAB9B6F1}" srcOrd="0" destOrd="0" presId="urn:microsoft.com/office/officeart/2005/8/layout/vProcess5"/>
    <dgm:cxn modelId="{90D335BE-8110-457A-9409-E804132E7A8F}" srcId="{7DBAD3E8-4652-45AB-9E77-0E459326ADC1}" destId="{4A5CA5C4-D8F1-401E-ADCB-6F32E12A82F7}" srcOrd="3" destOrd="0" parTransId="{F715E667-8BEA-46BD-95FC-005CF082DEB3}" sibTransId="{9C65C6B2-4E8C-4F2F-A507-ED12A2BFF82A}"/>
    <dgm:cxn modelId="{BD4FBEC9-5D04-4DAE-AA5B-CC9DB9F7A688}" type="presOf" srcId="{A297AA88-A3D6-428D-BD9C-5EF428B1C1F2}" destId="{4564A1E3-C295-42D9-B08F-0B57FABB380E}" srcOrd="1" destOrd="0" presId="urn:microsoft.com/office/officeart/2005/8/layout/vProcess5"/>
    <dgm:cxn modelId="{3F8FFDE3-EAE6-43E4-85C4-5281503E262E}" srcId="{7DBAD3E8-4652-45AB-9E77-0E459326ADC1}" destId="{2E8794FC-95A3-48B2-B8F8-62683659C097}" srcOrd="1" destOrd="0" parTransId="{56CEBF49-0FBB-4A3D-95A8-7317A2C2473F}" sibTransId="{7C81FF21-69C7-4177-BA82-89A9AA046656}"/>
    <dgm:cxn modelId="{382937E4-1F52-499B-AC09-9E118BAC42D9}" type="presOf" srcId="{2E8794FC-95A3-48B2-B8F8-62683659C097}" destId="{7316FCDE-895A-4B51-A558-4A58ACBB161C}" srcOrd="0" destOrd="0" presId="urn:microsoft.com/office/officeart/2005/8/layout/vProcess5"/>
    <dgm:cxn modelId="{DAE97EF4-E857-40A2-9105-7DE2432F898B}" type="presOf" srcId="{5DA9A704-F300-488C-ABD9-FCA050A7260E}" destId="{EBEBAEFB-BB9E-4318-8A00-589F9CCC45F4}" srcOrd="0" destOrd="0" presId="urn:microsoft.com/office/officeart/2005/8/layout/vProcess5"/>
    <dgm:cxn modelId="{B5A6E4FB-9184-436D-AAC6-EE8885BD1291}" srcId="{7DBAD3E8-4652-45AB-9E77-0E459326ADC1}" destId="{A297AA88-A3D6-428D-BD9C-5EF428B1C1F2}" srcOrd="0" destOrd="0" parTransId="{5E75EBFD-AE26-47B3-9A0E-ECC5403DA13C}" sibTransId="{16884CEA-9AC5-408D-8F03-CCCFCBF410D2}"/>
    <dgm:cxn modelId="{BD5B2A32-62AD-45F0-BFD2-C48EC4FEBF67}" type="presParOf" srcId="{065DBECA-B7A7-4FED-89FB-A0E62D5BBE4F}" destId="{A5C8D5A1-994B-45ED-8254-EF86957D2DA1}" srcOrd="0" destOrd="0" presId="urn:microsoft.com/office/officeart/2005/8/layout/vProcess5"/>
    <dgm:cxn modelId="{EB0F2B42-C064-4728-AAA7-2033AC92D558}" type="presParOf" srcId="{065DBECA-B7A7-4FED-89FB-A0E62D5BBE4F}" destId="{3841508F-3E81-465D-99D2-3C4D041B16F0}" srcOrd="1" destOrd="0" presId="urn:microsoft.com/office/officeart/2005/8/layout/vProcess5"/>
    <dgm:cxn modelId="{54B25E3B-0819-42CD-846A-342419FF0B7A}" type="presParOf" srcId="{065DBECA-B7A7-4FED-89FB-A0E62D5BBE4F}" destId="{7316FCDE-895A-4B51-A558-4A58ACBB161C}" srcOrd="2" destOrd="0" presId="urn:microsoft.com/office/officeart/2005/8/layout/vProcess5"/>
    <dgm:cxn modelId="{D7BA6C56-0BC0-423F-8C0A-C0E32C17E5D8}" type="presParOf" srcId="{065DBECA-B7A7-4FED-89FB-A0E62D5BBE4F}" destId="{EBEBAEFB-BB9E-4318-8A00-589F9CCC45F4}" srcOrd="3" destOrd="0" presId="urn:microsoft.com/office/officeart/2005/8/layout/vProcess5"/>
    <dgm:cxn modelId="{A439B1EE-0FE1-4DEC-B6A8-606B4F51694E}" type="presParOf" srcId="{065DBECA-B7A7-4FED-89FB-A0E62D5BBE4F}" destId="{F2726E4E-AB22-422E-87F3-DAD309C41BA8}" srcOrd="4" destOrd="0" presId="urn:microsoft.com/office/officeart/2005/8/layout/vProcess5"/>
    <dgm:cxn modelId="{815966E3-1288-4B3E-A65C-FF7F839DCBE6}" type="presParOf" srcId="{065DBECA-B7A7-4FED-89FB-A0E62D5BBE4F}" destId="{BF28288C-57B0-449C-8542-48BB81325060}" srcOrd="5" destOrd="0" presId="urn:microsoft.com/office/officeart/2005/8/layout/vProcess5"/>
    <dgm:cxn modelId="{14C6DBA7-13D6-49E4-9301-671CF593A5E7}" type="presParOf" srcId="{065DBECA-B7A7-4FED-89FB-A0E62D5BBE4F}" destId="{A8F731DB-D34B-4102-8910-0311410E8D50}" srcOrd="6" destOrd="0" presId="urn:microsoft.com/office/officeart/2005/8/layout/vProcess5"/>
    <dgm:cxn modelId="{0526E3F8-F363-4CD8-B07C-EADCA176EE68}" type="presParOf" srcId="{065DBECA-B7A7-4FED-89FB-A0E62D5BBE4F}" destId="{1579B17D-6BDA-4485-983C-AA83EAB9B6F1}" srcOrd="7" destOrd="0" presId="urn:microsoft.com/office/officeart/2005/8/layout/vProcess5"/>
    <dgm:cxn modelId="{9BF138E9-9EAD-429C-AA86-6154841779E0}" type="presParOf" srcId="{065DBECA-B7A7-4FED-89FB-A0E62D5BBE4F}" destId="{15011F2A-1D49-4AF5-AD10-4892ACDF7BDF}" srcOrd="8" destOrd="0" presId="urn:microsoft.com/office/officeart/2005/8/layout/vProcess5"/>
    <dgm:cxn modelId="{FC9C9336-4CA0-4C43-B810-540A95F2633A}" type="presParOf" srcId="{065DBECA-B7A7-4FED-89FB-A0E62D5BBE4F}" destId="{D5F4DAEF-7AFC-48DC-BD2D-3133AD325D68}" srcOrd="9" destOrd="0" presId="urn:microsoft.com/office/officeart/2005/8/layout/vProcess5"/>
    <dgm:cxn modelId="{7B4FE068-80B5-4660-B0C8-5A80412AA921}" type="presParOf" srcId="{065DBECA-B7A7-4FED-89FB-A0E62D5BBE4F}" destId="{4564A1E3-C295-42D9-B08F-0B57FABB380E}" srcOrd="10" destOrd="0" presId="urn:microsoft.com/office/officeart/2005/8/layout/vProcess5"/>
    <dgm:cxn modelId="{BD0D3F2D-8607-4387-9CBB-3283E38AD38A}" type="presParOf" srcId="{065DBECA-B7A7-4FED-89FB-A0E62D5BBE4F}" destId="{4D759064-217A-4200-B252-DE70529036C4}" srcOrd="11" destOrd="0" presId="urn:microsoft.com/office/officeart/2005/8/layout/vProcess5"/>
    <dgm:cxn modelId="{9B8F8013-D309-4252-A68A-685C37520EAC}" type="presParOf" srcId="{065DBECA-B7A7-4FED-89FB-A0E62D5BBE4F}" destId="{B481BB40-5A8E-423E-AB5A-D99F142A1A5E}" srcOrd="12" destOrd="0" presId="urn:microsoft.com/office/officeart/2005/8/layout/vProcess5"/>
    <dgm:cxn modelId="{B7E17B40-56DB-4038-B8C4-5857C92D5901}" type="presParOf" srcId="{065DBECA-B7A7-4FED-89FB-A0E62D5BBE4F}" destId="{4BFE9A62-E313-4014-8878-38CD59D7224C}" srcOrd="13" destOrd="0" presId="urn:microsoft.com/office/officeart/2005/8/layout/vProcess5"/>
    <dgm:cxn modelId="{AB36B36B-1A92-4CC5-AB9B-333C8D7D5A2E}" type="presParOf" srcId="{065DBECA-B7A7-4FED-89FB-A0E62D5BBE4F}" destId="{7B714050-2A17-4EB5-90A8-5F7A7ED87DF2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41508F-3E81-465D-99D2-3C4D041B16F0}">
      <dsp:nvSpPr>
        <dsp:cNvPr id="0" name=""/>
        <dsp:cNvSpPr/>
      </dsp:nvSpPr>
      <dsp:spPr>
        <a:xfrm>
          <a:off x="0" y="0"/>
          <a:ext cx="6889305" cy="7552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Learned the difficulties of mapping EEG signals to image formats.</a:t>
          </a:r>
        </a:p>
      </dsp:txBody>
      <dsp:txXfrm>
        <a:off x="22120" y="22120"/>
        <a:ext cx="5985983" cy="710997"/>
      </dsp:txXfrm>
    </dsp:sp>
    <dsp:sp modelId="{7316FCDE-895A-4B51-A558-4A58ACBB161C}">
      <dsp:nvSpPr>
        <dsp:cNvPr id="0" name=""/>
        <dsp:cNvSpPr/>
      </dsp:nvSpPr>
      <dsp:spPr>
        <a:xfrm>
          <a:off x="514461" y="860131"/>
          <a:ext cx="6889305" cy="7552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Understood how transfer-learning models behave with low-variance datasets.</a:t>
          </a:r>
        </a:p>
      </dsp:txBody>
      <dsp:txXfrm>
        <a:off x="536581" y="882251"/>
        <a:ext cx="5839700" cy="710997"/>
      </dsp:txXfrm>
    </dsp:sp>
    <dsp:sp modelId="{EBEBAEFB-BB9E-4318-8A00-589F9CCC45F4}">
      <dsp:nvSpPr>
        <dsp:cNvPr id="0" name=""/>
        <dsp:cNvSpPr/>
      </dsp:nvSpPr>
      <dsp:spPr>
        <a:xfrm>
          <a:off x="1028922" y="1720262"/>
          <a:ext cx="6889305" cy="7552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Gained experience fine-tuning pre-trained architectures.</a:t>
          </a:r>
        </a:p>
      </dsp:txBody>
      <dsp:txXfrm>
        <a:off x="1051042" y="1742382"/>
        <a:ext cx="5839700" cy="710997"/>
      </dsp:txXfrm>
    </dsp:sp>
    <dsp:sp modelId="{F2726E4E-AB22-422E-87F3-DAD309C41BA8}">
      <dsp:nvSpPr>
        <dsp:cNvPr id="0" name=""/>
        <dsp:cNvSpPr/>
      </dsp:nvSpPr>
      <dsp:spPr>
        <a:xfrm>
          <a:off x="1543383" y="2580393"/>
          <a:ext cx="6889305" cy="7552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Studied how learning rates influence stability in deep models.</a:t>
          </a:r>
        </a:p>
      </dsp:txBody>
      <dsp:txXfrm>
        <a:off x="1565503" y="2602513"/>
        <a:ext cx="5839700" cy="710997"/>
      </dsp:txXfrm>
    </dsp:sp>
    <dsp:sp modelId="{BF28288C-57B0-449C-8542-48BB81325060}">
      <dsp:nvSpPr>
        <dsp:cNvPr id="0" name=""/>
        <dsp:cNvSpPr/>
      </dsp:nvSpPr>
      <dsp:spPr>
        <a:xfrm>
          <a:off x="2057844" y="3440524"/>
          <a:ext cx="6889305" cy="7552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Learned to interpret overfitting patterns in accuracy plots.</a:t>
          </a:r>
        </a:p>
      </dsp:txBody>
      <dsp:txXfrm>
        <a:off x="2079964" y="3462644"/>
        <a:ext cx="5839700" cy="710997"/>
      </dsp:txXfrm>
    </dsp:sp>
    <dsp:sp modelId="{A8F731DB-D34B-4102-8910-0311410E8D50}">
      <dsp:nvSpPr>
        <dsp:cNvPr id="0" name=""/>
        <dsp:cNvSpPr/>
      </dsp:nvSpPr>
      <dsp:spPr>
        <a:xfrm>
          <a:off x="6398401" y="551742"/>
          <a:ext cx="490904" cy="49090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200" kern="1200"/>
        </a:p>
      </dsp:txBody>
      <dsp:txXfrm>
        <a:off x="6508854" y="551742"/>
        <a:ext cx="269998" cy="369405"/>
      </dsp:txXfrm>
    </dsp:sp>
    <dsp:sp modelId="{1579B17D-6BDA-4485-983C-AA83EAB9B6F1}">
      <dsp:nvSpPr>
        <dsp:cNvPr id="0" name=""/>
        <dsp:cNvSpPr/>
      </dsp:nvSpPr>
      <dsp:spPr>
        <a:xfrm>
          <a:off x="6912862" y="1411873"/>
          <a:ext cx="490904" cy="49090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200" kern="1200"/>
        </a:p>
      </dsp:txBody>
      <dsp:txXfrm>
        <a:off x="7023315" y="1411873"/>
        <a:ext cx="269998" cy="369405"/>
      </dsp:txXfrm>
    </dsp:sp>
    <dsp:sp modelId="{15011F2A-1D49-4AF5-AD10-4892ACDF7BDF}">
      <dsp:nvSpPr>
        <dsp:cNvPr id="0" name=""/>
        <dsp:cNvSpPr/>
      </dsp:nvSpPr>
      <dsp:spPr>
        <a:xfrm>
          <a:off x="7427323" y="2259417"/>
          <a:ext cx="490904" cy="49090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200" kern="1200"/>
        </a:p>
      </dsp:txBody>
      <dsp:txXfrm>
        <a:off x="7537776" y="2259417"/>
        <a:ext cx="269998" cy="369405"/>
      </dsp:txXfrm>
    </dsp:sp>
    <dsp:sp modelId="{D5F4DAEF-7AFC-48DC-BD2D-3133AD325D68}">
      <dsp:nvSpPr>
        <dsp:cNvPr id="0" name=""/>
        <dsp:cNvSpPr/>
      </dsp:nvSpPr>
      <dsp:spPr>
        <a:xfrm>
          <a:off x="7941784" y="3127940"/>
          <a:ext cx="490904" cy="49090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200" kern="1200"/>
        </a:p>
      </dsp:txBody>
      <dsp:txXfrm>
        <a:off x="8052237" y="3127940"/>
        <a:ext cx="269998" cy="3694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98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498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867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66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1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7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144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1A48-F18A-45B3-BC05-1E27DA3F88AF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8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088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B261-8843-42D1-AAFC-05E20E2D9B97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12793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B261-8843-42D1-AAFC-05E20E2D9B97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33714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B261-8843-42D1-AAFC-05E20E2D9B97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469469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B261-8843-42D1-AAFC-05E20E2D9B97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02786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B261-8843-42D1-AAFC-05E20E2D9B97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30597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B261-8843-42D1-AAFC-05E20E2D9B97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15828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53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620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DC5B261-8843-42D1-AAFC-05E20E2D9B97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936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9945" y="463766"/>
            <a:ext cx="8825657" cy="1915647"/>
          </a:xfrm>
        </p:spPr>
        <p:txBody>
          <a:bodyPr/>
          <a:lstStyle/>
          <a:p>
            <a:br>
              <a:rPr lang="en-GB" b="1" dirty="0"/>
            </a:br>
            <a:br>
              <a:rPr lang="en-GB" dirty="0"/>
            </a:br>
            <a:r>
              <a:rPr lang="en-GB" sz="3200" dirty="0"/>
              <a:t>Transfer Learning Emotion Recognition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79"/>
            <a:ext cx="8825658" cy="151924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By</a:t>
            </a:r>
          </a:p>
          <a:p>
            <a:r>
              <a:rPr lang="en-US" dirty="0"/>
              <a:t>THANUJ KUMAR GUMMADAVELLI</a:t>
            </a:r>
          </a:p>
          <a:p>
            <a:r>
              <a:rPr lang="en-US" dirty="0"/>
              <a:t>KARTHIK TAGORE</a:t>
            </a:r>
          </a:p>
          <a:p>
            <a:r>
              <a:rPr lang="en-US" dirty="0"/>
              <a:t>PAVAN KALYAN REDDY POCHUGARI</a:t>
            </a:r>
          </a:p>
          <a:p>
            <a:r>
              <a:rPr lang="en-US" dirty="0"/>
              <a:t>NAGA VENKATA AYYAPPA SWAMY MADAMALA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166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Abstract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• EEG data explored for reliable emotion recognition </a:t>
            </a:r>
          </a:p>
          <a:p>
            <a:r>
              <a:rPr lang="en-US" dirty="0"/>
              <a:t>• Pipeline planned from raw signals to predictions </a:t>
            </a:r>
          </a:p>
          <a:p>
            <a:r>
              <a:rPr lang="en-US" dirty="0"/>
              <a:t>• Dataset cleaned using filtering and segmentation steps </a:t>
            </a:r>
          </a:p>
          <a:p>
            <a:r>
              <a:rPr lang="en-US" dirty="0"/>
              <a:t>• Windows prepared for multiple learning model types </a:t>
            </a:r>
          </a:p>
          <a:p>
            <a:r>
              <a:rPr lang="en-US" dirty="0"/>
              <a:t>• ResNet50, 1D-CNN, LSTM, Random Forest applied </a:t>
            </a:r>
          </a:p>
          <a:p>
            <a:r>
              <a:rPr lang="en-US" dirty="0"/>
              <a:t>• Models trained, tested, and later fine-tuned </a:t>
            </a:r>
          </a:p>
          <a:p>
            <a:r>
              <a:rPr lang="en-US" dirty="0"/>
              <a:t>• Fine-tuning improved stability and learning behavior </a:t>
            </a:r>
          </a:p>
          <a:p>
            <a:r>
              <a:rPr lang="en-US" dirty="0"/>
              <a:t>• Confusion matrices examined prediction strengths and errors </a:t>
            </a:r>
          </a:p>
          <a:p>
            <a:r>
              <a:rPr lang="en-US" dirty="0"/>
              <a:t>• Project achieved full workflow from raw EEG to results </a:t>
            </a:r>
          </a:p>
          <a:p>
            <a:r>
              <a:rPr lang="en-US" dirty="0"/>
              <a:t>• Study revealed limits and potential of each model </a:t>
            </a:r>
          </a:p>
          <a:p>
            <a:pPr lvl="0">
              <a:buFont typeface="Wingdings" panose="05000000000000000000" pitchFamily="2" charset="2"/>
              <a:buChar char="v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7988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Introduction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>
              <a:buFont typeface="Wingdings" panose="05000000000000000000" pitchFamily="2" charset="2"/>
              <a:buChar char="v"/>
            </a:pPr>
            <a:r>
              <a:rPr lang="en-GB" dirty="0"/>
              <a:t>We aimed to explore how different machine-learning and deep-learning models interpret EEG signals.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GB" dirty="0"/>
              <a:t>The project involved </a:t>
            </a:r>
            <a:r>
              <a:rPr lang="en-GB" dirty="0" err="1"/>
              <a:t>preprocessing</a:t>
            </a:r>
            <a:r>
              <a:rPr lang="en-GB" dirty="0"/>
              <a:t> raw EEG data, applying filters, and segmenting signals into uniform windows.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GB" dirty="0"/>
              <a:t>Four models were implemented: ResNet50, 1D-CNN, LSTM, and Random Forest.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GB" dirty="0"/>
              <a:t>Each team member focused on one architecture from design to final evaluation.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GB" dirty="0"/>
              <a:t>We studied model behaviour before and after fine-tuning.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GB" dirty="0"/>
              <a:t>Confusion matrices were </a:t>
            </a:r>
            <a:r>
              <a:rPr lang="en-GB" dirty="0" err="1"/>
              <a:t>analyzed</a:t>
            </a:r>
            <a:r>
              <a:rPr lang="en-GB" dirty="0"/>
              <a:t> to understand class-level performance.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GB" dirty="0"/>
              <a:t>The project helped us learn how different models respond to EEG complexity.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Final results highlighted strengths, challenges, and improvement opportunities</a:t>
            </a:r>
          </a:p>
        </p:txBody>
      </p:sp>
    </p:spTree>
    <p:extLst>
      <p:ext uri="{BB962C8B-B14F-4D97-AF65-F5344CB8AC3E}">
        <p14:creationId xmlns:p14="http://schemas.microsoft.com/office/powerpoint/2010/main" val="198996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4532" y="3234664"/>
            <a:ext cx="9404723" cy="1400530"/>
          </a:xfrm>
        </p:spPr>
        <p:txBody>
          <a:bodyPr/>
          <a:lstStyle/>
          <a:p>
            <a:r>
              <a:rPr lang="en-GB" b="1" dirty="0"/>
              <a:t>ResNet50 Model: </a:t>
            </a:r>
            <a:r>
              <a:rPr lang="en-GB" b="1" dirty="0" err="1"/>
              <a:t>Thanuj</a:t>
            </a:r>
            <a:r>
              <a:rPr lang="en-GB" b="1" dirty="0"/>
              <a:t> Kumar </a:t>
            </a:r>
            <a:r>
              <a:rPr lang="en-GB" b="1" dirty="0" err="1"/>
              <a:t>Gummadavelli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5049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ResNet50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3" y="2052918"/>
            <a:ext cx="5700444" cy="4195481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/>
              <a:t>My Contribution </a:t>
            </a:r>
          </a:p>
          <a:p>
            <a:pPr lvl="1"/>
            <a:r>
              <a:rPr lang="en-GB" dirty="0"/>
              <a:t>Converted EEG windows into image-based representations.</a:t>
            </a:r>
            <a:endParaRPr lang="en-GB" sz="1600" dirty="0"/>
          </a:p>
          <a:p>
            <a:pPr lvl="1"/>
            <a:r>
              <a:rPr lang="en-GB" dirty="0"/>
              <a:t>Implemented the ResNet50 transfer-learning pipeline.</a:t>
            </a:r>
            <a:endParaRPr lang="en-GB" sz="1600" dirty="0"/>
          </a:p>
          <a:p>
            <a:pPr lvl="1"/>
            <a:r>
              <a:rPr lang="en-GB" dirty="0"/>
              <a:t>Configured </a:t>
            </a:r>
            <a:r>
              <a:rPr lang="en-GB" dirty="0" err="1"/>
              <a:t>preprocessing</a:t>
            </a:r>
            <a:r>
              <a:rPr lang="en-GB" dirty="0"/>
              <a:t> suitable for image-driven architectures.</a:t>
            </a:r>
            <a:endParaRPr lang="en-GB" sz="1600" dirty="0"/>
          </a:p>
          <a:p>
            <a:pPr lvl="1"/>
            <a:r>
              <a:rPr lang="en-GB" dirty="0"/>
              <a:t>Trained baseline ResNet50 and monitored accuracy trends.</a:t>
            </a:r>
            <a:endParaRPr lang="en-GB" sz="1600" dirty="0"/>
          </a:p>
          <a:p>
            <a:pPr lvl="1"/>
            <a:r>
              <a:rPr lang="en-GB" dirty="0"/>
              <a:t>Tuned deeper layers by adjusting learning rates and unfreezing blocks.</a:t>
            </a:r>
            <a:endParaRPr lang="en-GB" sz="1600" dirty="0"/>
          </a:p>
          <a:p>
            <a:pPr lvl="1"/>
            <a:r>
              <a:rPr lang="en-GB" dirty="0"/>
              <a:t>Generated accuracy curves and confusion matrices.</a:t>
            </a:r>
            <a:endParaRPr lang="en-GB" sz="1600" dirty="0"/>
          </a:p>
          <a:p>
            <a:pPr lvl="1"/>
            <a:r>
              <a:rPr lang="en-GB" dirty="0"/>
              <a:t>Evaluated limitations of transfer learning for EEG-derived images.</a:t>
            </a:r>
            <a:endParaRPr lang="en-GB" sz="1600" dirty="0"/>
          </a:p>
          <a:p>
            <a:pPr lvl="1"/>
            <a:r>
              <a:rPr lang="en-GB" dirty="0"/>
              <a:t>Documented challenges and prepared model performance reports.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860" y="1363850"/>
            <a:ext cx="4410075" cy="517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269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 Learned</a:t>
            </a:r>
            <a:endParaRPr lang="en-GB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8918192"/>
              </p:ext>
            </p:extLst>
          </p:nvPr>
        </p:nvGraphicFramePr>
        <p:xfrm>
          <a:off x="1103313" y="2052638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4346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Explore spectrogram-based transformations for clearer patterns.</a:t>
            </a:r>
          </a:p>
          <a:p>
            <a:pPr lvl="0"/>
            <a:r>
              <a:rPr lang="en-GB" dirty="0"/>
              <a:t>Test domain-specific models such as </a:t>
            </a:r>
            <a:r>
              <a:rPr lang="en-GB" dirty="0" err="1"/>
              <a:t>EEGNet</a:t>
            </a:r>
            <a:r>
              <a:rPr lang="en-GB" dirty="0"/>
              <a:t> adaptations.</a:t>
            </a:r>
          </a:p>
          <a:p>
            <a:pPr lvl="0"/>
            <a:r>
              <a:rPr lang="en-GB" dirty="0"/>
              <a:t>Use larger datasets to support deeper layer unfreezing.</a:t>
            </a:r>
          </a:p>
          <a:p>
            <a:pPr lvl="0"/>
            <a:r>
              <a:rPr lang="en-GB" dirty="0"/>
              <a:t>Apply regularization to reduce </a:t>
            </a:r>
            <a:r>
              <a:rPr lang="en-GB" dirty="0" err="1"/>
              <a:t>overfitting</a:t>
            </a:r>
            <a:r>
              <a:rPr lang="en-GB" dirty="0"/>
              <a:t> on EEG-image inputs.</a:t>
            </a:r>
          </a:p>
          <a:p>
            <a:pPr lvl="0"/>
            <a:r>
              <a:rPr lang="en-GB" dirty="0"/>
              <a:t>Combine image and temporal features using hybrid models.</a:t>
            </a:r>
          </a:p>
          <a:p>
            <a:pPr lvl="0"/>
            <a:r>
              <a:rPr lang="en-GB" dirty="0"/>
              <a:t>Incorporate frequency-domain features before image conversion.</a:t>
            </a:r>
          </a:p>
          <a:p>
            <a:pPr lvl="0"/>
            <a:r>
              <a:rPr lang="en-GB" dirty="0"/>
              <a:t>Improve visualization of feature maps for EEG analysis.</a:t>
            </a:r>
          </a:p>
          <a:p>
            <a:r>
              <a:rPr lang="en-GB" dirty="0"/>
              <a:t>Compare ResNet50 with </a:t>
            </a:r>
            <a:r>
              <a:rPr lang="en-GB" dirty="0" err="1"/>
              <a:t>EfficientNet</a:t>
            </a:r>
            <a:r>
              <a:rPr lang="en-GB" dirty="0"/>
              <a:t> or </a:t>
            </a:r>
            <a:r>
              <a:rPr lang="en-GB" dirty="0" err="1"/>
              <a:t>MobileNet</a:t>
            </a:r>
            <a:r>
              <a:rPr lang="en-GB" dirty="0"/>
              <a:t> variants.</a:t>
            </a:r>
          </a:p>
        </p:txBody>
      </p:sp>
    </p:spTree>
    <p:extLst>
      <p:ext uri="{BB962C8B-B14F-4D97-AF65-F5344CB8AC3E}">
        <p14:creationId xmlns:p14="http://schemas.microsoft.com/office/powerpoint/2010/main" val="1092136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1026" y="3622122"/>
            <a:ext cx="9404723" cy="1400530"/>
          </a:xfrm>
        </p:spPr>
        <p:txBody>
          <a:bodyPr/>
          <a:lstStyle/>
          <a:p>
            <a:r>
              <a:rPr lang="en-GB" sz="6000" b="1" dirty="0"/>
              <a:t>1D-CNN: </a:t>
            </a:r>
            <a:r>
              <a:rPr lang="en-GB" sz="6000" b="1" dirty="0" err="1"/>
              <a:t>Karthik</a:t>
            </a:r>
            <a:r>
              <a:rPr lang="en-GB" sz="6000" b="1" dirty="0"/>
              <a:t> Tagore</a:t>
            </a:r>
          </a:p>
        </p:txBody>
      </p:sp>
    </p:spTree>
    <p:extLst>
      <p:ext uri="{BB962C8B-B14F-4D97-AF65-F5344CB8AC3E}">
        <p14:creationId xmlns:p14="http://schemas.microsoft.com/office/powerpoint/2010/main" val="3649764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Contribution (1D-CNN)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3" y="2052918"/>
            <a:ext cx="4274600" cy="4195481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GB" dirty="0"/>
              <a:t>Designed the 1D-CNN architecture for EEG time-series inputs.</a:t>
            </a:r>
          </a:p>
          <a:p>
            <a:pPr lvl="0"/>
            <a:r>
              <a:rPr lang="en-GB" dirty="0"/>
              <a:t>Selected kernel sizes, filter depths, and pooling configurations.</a:t>
            </a:r>
          </a:p>
          <a:p>
            <a:pPr lvl="0"/>
            <a:r>
              <a:rPr lang="en-GB" dirty="0"/>
              <a:t>Trained baseline model and studied validation fluctuations.</a:t>
            </a:r>
          </a:p>
          <a:p>
            <a:pPr lvl="0"/>
            <a:r>
              <a:rPr lang="en-GB" dirty="0"/>
              <a:t>Added extra convolution blocks during fine-tuning.</a:t>
            </a:r>
          </a:p>
          <a:p>
            <a:pPr lvl="0"/>
            <a:r>
              <a:rPr lang="en-GB" dirty="0"/>
              <a:t>Implemented dropout to stabilize early-epoch learning behaviour.</a:t>
            </a:r>
          </a:p>
          <a:p>
            <a:pPr lvl="0"/>
            <a:r>
              <a:rPr lang="en-GB" dirty="0"/>
              <a:t>Prepared accuracy curves and confusion-matrix results.</a:t>
            </a:r>
          </a:p>
          <a:p>
            <a:pPr lvl="0"/>
            <a:r>
              <a:rPr lang="en-GB" dirty="0"/>
              <a:t>Compared 1D-CNN performance with ResNet50 and LSTM.</a:t>
            </a:r>
          </a:p>
          <a:p>
            <a:r>
              <a:rPr lang="en-GB" dirty="0"/>
              <a:t>Documented sensitivity of CNNs to limited EEG samples.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413" y="1465790"/>
            <a:ext cx="4600575" cy="500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388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 Learned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Learned how convolution layers capture temporal EEG structure.</a:t>
            </a:r>
          </a:p>
          <a:p>
            <a:pPr lvl="0"/>
            <a:r>
              <a:rPr lang="en-GB" dirty="0"/>
              <a:t>Understood the relationship between kernel width and signal dynamics.</a:t>
            </a:r>
          </a:p>
          <a:p>
            <a:pPr lvl="0"/>
            <a:r>
              <a:rPr lang="en-GB" dirty="0"/>
              <a:t>Realized how dataset size affects CNN generalization.</a:t>
            </a:r>
          </a:p>
          <a:p>
            <a:pPr lvl="0"/>
            <a:r>
              <a:rPr lang="en-GB" dirty="0"/>
              <a:t>Practiced tuning depth and filter count for signal stability.</a:t>
            </a:r>
          </a:p>
          <a:p>
            <a:pPr lvl="0"/>
            <a:r>
              <a:rPr lang="en-GB" dirty="0"/>
              <a:t>Gained insight into vanishing and exploding activation issues.</a:t>
            </a:r>
          </a:p>
          <a:p>
            <a:pPr lvl="0"/>
            <a:r>
              <a:rPr lang="en-GB" dirty="0"/>
              <a:t>Improved ability to diagnose </a:t>
            </a:r>
            <a:r>
              <a:rPr lang="en-GB" dirty="0" err="1"/>
              <a:t>overfitting</a:t>
            </a:r>
            <a:r>
              <a:rPr lang="en-GB" dirty="0"/>
              <a:t> through curve trends.</a:t>
            </a:r>
          </a:p>
          <a:p>
            <a:pPr lvl="0"/>
            <a:r>
              <a:rPr lang="en-GB" dirty="0"/>
              <a:t>Learned how noise influences convolution output behaviour.</a:t>
            </a:r>
          </a:p>
          <a:p>
            <a:pPr lvl="0"/>
            <a:r>
              <a:rPr lang="en-GB" dirty="0"/>
              <a:t>Understood model limitations for two-class EEG classification.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826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Future Thoughts and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Want to experiment with deeper temporal CNN stacks</a:t>
            </a:r>
          </a:p>
          <a:p>
            <a:pPr lvl="0"/>
            <a:r>
              <a:rPr lang="en-GB" dirty="0"/>
              <a:t>Would explore frequency-band CNN features as input</a:t>
            </a:r>
          </a:p>
          <a:p>
            <a:pPr lvl="0"/>
            <a:r>
              <a:rPr lang="en-GB" dirty="0"/>
              <a:t>Interested in combining CNNs with attention layers</a:t>
            </a:r>
          </a:p>
          <a:p>
            <a:pPr lvl="0"/>
            <a:r>
              <a:rPr lang="en-GB" dirty="0"/>
              <a:t>Would test models on more subjects and emotions</a:t>
            </a:r>
          </a:p>
          <a:p>
            <a:pPr lvl="0"/>
            <a:r>
              <a:rPr lang="en-GB" dirty="0"/>
              <a:t>Keen to study how noise reduction affects learning</a:t>
            </a:r>
          </a:p>
          <a:p>
            <a:pPr lvl="0"/>
            <a:r>
              <a:rPr lang="en-GB" dirty="0"/>
              <a:t>Interested in developing end-to-end EEG classifiers</a:t>
            </a:r>
          </a:p>
          <a:p>
            <a:r>
              <a:rPr lang="en-GB" dirty="0"/>
              <a:t>Hope to explore CNN-based real-time emotion systems</a:t>
            </a:r>
          </a:p>
        </p:txBody>
      </p:sp>
    </p:spTree>
    <p:extLst>
      <p:ext uri="{BB962C8B-B14F-4D97-AF65-F5344CB8AC3E}">
        <p14:creationId xmlns:p14="http://schemas.microsoft.com/office/powerpoint/2010/main" val="1158233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8070" y="3172671"/>
            <a:ext cx="10559164" cy="1399329"/>
          </a:xfrm>
        </p:spPr>
        <p:txBody>
          <a:bodyPr/>
          <a:lstStyle/>
          <a:p>
            <a:r>
              <a:rPr lang="en-GB" b="1" dirty="0"/>
              <a:t>LSTM: </a:t>
            </a:r>
            <a:r>
              <a:rPr lang="en-GB" b="1" dirty="0" err="1"/>
              <a:t>Pavan</a:t>
            </a:r>
            <a:r>
              <a:rPr lang="en-GB" b="1" dirty="0"/>
              <a:t> </a:t>
            </a:r>
            <a:r>
              <a:rPr lang="en-GB" b="1" dirty="0" err="1"/>
              <a:t>Kalyan</a:t>
            </a:r>
            <a:r>
              <a:rPr lang="en-GB" b="1" dirty="0"/>
              <a:t> Reddy </a:t>
            </a:r>
            <a:r>
              <a:rPr lang="en-GB" b="1" dirty="0" err="1"/>
              <a:t>Pochugari</a:t>
            </a:r>
            <a:r>
              <a:rPr lang="en-GB" b="1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8128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My Role in the Project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6018159" cy="4195481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GB" dirty="0"/>
              <a:t>Designed and trained the LSTM architecture</a:t>
            </a:r>
          </a:p>
          <a:p>
            <a:pPr lvl="0"/>
            <a:r>
              <a:rPr lang="en-GB" dirty="0"/>
              <a:t>Reshaped windows into sequential learning format</a:t>
            </a:r>
          </a:p>
          <a:p>
            <a:pPr lvl="0"/>
            <a:r>
              <a:rPr lang="en-GB" dirty="0"/>
              <a:t>Tested stacked LSTM layers for pattern extraction</a:t>
            </a:r>
          </a:p>
          <a:p>
            <a:pPr lvl="0"/>
            <a:r>
              <a:rPr lang="en-GB" dirty="0"/>
              <a:t>Tuned units, learning rates, and dropout settings</a:t>
            </a:r>
          </a:p>
          <a:p>
            <a:pPr lvl="0"/>
            <a:r>
              <a:rPr lang="en-GB" dirty="0" err="1"/>
              <a:t>Analyzed</a:t>
            </a:r>
            <a:r>
              <a:rPr lang="en-GB" dirty="0"/>
              <a:t> separation between train and validation curves</a:t>
            </a:r>
          </a:p>
          <a:p>
            <a:pPr lvl="0"/>
            <a:r>
              <a:rPr lang="en-GB" dirty="0"/>
              <a:t>Produced final accuracy plots and confusion results</a:t>
            </a:r>
          </a:p>
          <a:p>
            <a:pPr lvl="0"/>
            <a:r>
              <a:rPr lang="en-GB" dirty="0"/>
              <a:t>Contributed insight on sequence-based EEG </a:t>
            </a:r>
            <a:r>
              <a:rPr lang="en-GB" dirty="0" err="1"/>
              <a:t>modeling</a:t>
            </a:r>
            <a:endParaRPr lang="en-GB" dirty="0"/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093" y="1152983"/>
            <a:ext cx="4048125" cy="565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920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 Learned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Understood how LSTMs handle long-range EEG patterns</a:t>
            </a:r>
          </a:p>
          <a:p>
            <a:pPr lvl="0"/>
            <a:r>
              <a:rPr lang="en-GB" dirty="0"/>
              <a:t>Observed how easily sequential models </a:t>
            </a:r>
            <a:r>
              <a:rPr lang="en-GB" dirty="0" err="1"/>
              <a:t>overfit</a:t>
            </a:r>
            <a:endParaRPr lang="en-GB" dirty="0"/>
          </a:p>
          <a:p>
            <a:pPr lvl="0"/>
            <a:r>
              <a:rPr lang="en-GB" dirty="0"/>
              <a:t>Learned value of tuning dropout for stable training</a:t>
            </a:r>
          </a:p>
          <a:p>
            <a:pPr lvl="0"/>
            <a:r>
              <a:rPr lang="en-GB" dirty="0"/>
              <a:t>Saw importance of clean, consistent time-series inputs</a:t>
            </a:r>
          </a:p>
          <a:p>
            <a:pPr lvl="0"/>
            <a:r>
              <a:rPr lang="en-GB" dirty="0"/>
              <a:t>Improved understanding of model generalization issues</a:t>
            </a:r>
          </a:p>
          <a:p>
            <a:pPr lvl="0"/>
            <a:r>
              <a:rPr lang="en-GB" dirty="0"/>
              <a:t>Learned to evaluate class balance through matrices</a:t>
            </a:r>
          </a:p>
          <a:p>
            <a:r>
              <a:rPr lang="en-GB" dirty="0"/>
              <a:t>Gained experience refining recurrent architectures</a:t>
            </a:r>
          </a:p>
        </p:txBody>
      </p:sp>
    </p:spTree>
    <p:extLst>
      <p:ext uri="{BB962C8B-B14F-4D97-AF65-F5344CB8AC3E}">
        <p14:creationId xmlns:p14="http://schemas.microsoft.com/office/powerpoint/2010/main" val="2864912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Future Thoughts and Extensions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Would explore Bi-LSTM or GRU for deeper </a:t>
            </a:r>
            <a:r>
              <a:rPr lang="en-GB" dirty="0" err="1"/>
              <a:t>modeling</a:t>
            </a:r>
            <a:endParaRPr lang="en-GB" dirty="0"/>
          </a:p>
          <a:p>
            <a:pPr lvl="0"/>
            <a:r>
              <a:rPr lang="en-GB" dirty="0"/>
              <a:t>Interested in using attention layers for EEG focus</a:t>
            </a:r>
          </a:p>
          <a:p>
            <a:pPr lvl="0"/>
            <a:r>
              <a:rPr lang="en-GB" dirty="0"/>
              <a:t>Would like to test emotion recognition across subjects</a:t>
            </a:r>
          </a:p>
          <a:p>
            <a:pPr lvl="0"/>
            <a:r>
              <a:rPr lang="en-GB" dirty="0"/>
              <a:t>Want to explore longer windows for richer sequences</a:t>
            </a:r>
          </a:p>
          <a:p>
            <a:pPr lvl="0"/>
            <a:r>
              <a:rPr lang="en-GB" dirty="0"/>
              <a:t>Curious about combining LSTM with CNN features</a:t>
            </a:r>
          </a:p>
          <a:p>
            <a:pPr lvl="0"/>
            <a:r>
              <a:rPr lang="en-GB" dirty="0"/>
              <a:t>Wish to build interpretable models for brain rhythms</a:t>
            </a:r>
          </a:p>
          <a:p>
            <a:pPr lvl="0"/>
            <a:r>
              <a:rPr lang="en-GB" dirty="0"/>
              <a:t>Interested in real-world EEG mental-state monitoring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6463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813" y="2552737"/>
            <a:ext cx="9412289" cy="3328869"/>
          </a:xfrm>
        </p:spPr>
        <p:txBody>
          <a:bodyPr/>
          <a:lstStyle/>
          <a:p>
            <a:r>
              <a:rPr lang="en-GB" b="1" dirty="0"/>
              <a:t>Random Forest Model:</a:t>
            </a:r>
            <a:br>
              <a:rPr lang="en-GB" b="1" dirty="0"/>
            </a:br>
            <a:r>
              <a:rPr lang="en-GB" sz="3200" b="1" dirty="0"/>
              <a:t>Naga </a:t>
            </a:r>
            <a:r>
              <a:rPr lang="en-GB" sz="3200" b="1" dirty="0" err="1"/>
              <a:t>Venkata</a:t>
            </a:r>
            <a:r>
              <a:rPr lang="en-GB" sz="3200" b="1" dirty="0"/>
              <a:t> </a:t>
            </a:r>
            <a:r>
              <a:rPr lang="en-GB" sz="3200" b="1" dirty="0" err="1"/>
              <a:t>Ayyappa</a:t>
            </a:r>
            <a:r>
              <a:rPr lang="en-GB" sz="3200" b="1" dirty="0"/>
              <a:t> </a:t>
            </a:r>
            <a:r>
              <a:rPr lang="en-GB" sz="3200" b="1" dirty="0" err="1"/>
              <a:t>Swamy</a:t>
            </a:r>
            <a:r>
              <a:rPr lang="en-GB" sz="3200" b="1" dirty="0"/>
              <a:t> </a:t>
            </a:r>
            <a:r>
              <a:rPr lang="en-GB" sz="3200" b="1" dirty="0" err="1"/>
              <a:t>Madamala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329623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My Role in the Project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3" y="2052918"/>
            <a:ext cx="5491216" cy="4195481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GB" dirty="0"/>
              <a:t>Prepared flattened EEG windows for classical </a:t>
            </a:r>
            <a:r>
              <a:rPr lang="en-GB" dirty="0" err="1"/>
              <a:t>modeling</a:t>
            </a:r>
            <a:endParaRPr lang="en-GB" dirty="0"/>
          </a:p>
          <a:p>
            <a:pPr lvl="0"/>
            <a:r>
              <a:rPr lang="en-GB" dirty="0"/>
              <a:t>Implemented the Random Forest baseline classifier</a:t>
            </a:r>
          </a:p>
          <a:p>
            <a:pPr lvl="0"/>
            <a:r>
              <a:rPr lang="en-GB" dirty="0"/>
              <a:t>Tuned number of trees and depth constraints</a:t>
            </a:r>
          </a:p>
          <a:p>
            <a:pPr lvl="0"/>
            <a:r>
              <a:rPr lang="en-GB" dirty="0"/>
              <a:t>Compared precision, recall, and class balance</a:t>
            </a:r>
          </a:p>
          <a:p>
            <a:pPr lvl="0"/>
            <a:r>
              <a:rPr lang="en-GB" dirty="0"/>
              <a:t>Generated final classification reports and matrices</a:t>
            </a:r>
          </a:p>
          <a:p>
            <a:pPr lvl="0"/>
            <a:r>
              <a:rPr lang="en-GB" dirty="0"/>
              <a:t>Evaluated how classical models differ from deep learning</a:t>
            </a:r>
          </a:p>
          <a:p>
            <a:r>
              <a:rPr lang="en-GB" dirty="0"/>
              <a:t>Supported team with performance comparison table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723" y="2052918"/>
            <a:ext cx="485775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23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 Learned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Understood benefits of simpler models on small data</a:t>
            </a:r>
          </a:p>
          <a:p>
            <a:pPr lvl="0"/>
            <a:r>
              <a:rPr lang="en-GB" dirty="0"/>
              <a:t>Saw how tree depth influences generalization </a:t>
            </a:r>
            <a:r>
              <a:rPr lang="en-GB" dirty="0" err="1"/>
              <a:t>behavior</a:t>
            </a:r>
            <a:endParaRPr lang="en-GB" dirty="0"/>
          </a:p>
          <a:p>
            <a:pPr lvl="0"/>
            <a:r>
              <a:rPr lang="en-GB" dirty="0"/>
              <a:t>Learned how confusion matrices reveal class issues</a:t>
            </a:r>
          </a:p>
          <a:p>
            <a:pPr lvl="0"/>
            <a:r>
              <a:rPr lang="en-GB" dirty="0"/>
              <a:t>Realized </a:t>
            </a:r>
            <a:r>
              <a:rPr lang="en-GB" dirty="0" err="1"/>
              <a:t>preprocessing</a:t>
            </a:r>
            <a:r>
              <a:rPr lang="en-GB" dirty="0"/>
              <a:t> strongly affects classical models</a:t>
            </a:r>
          </a:p>
          <a:p>
            <a:pPr lvl="0"/>
            <a:r>
              <a:rPr lang="en-GB" dirty="0"/>
              <a:t>Understood limits of feature-flattening for EEG</a:t>
            </a:r>
          </a:p>
          <a:p>
            <a:pPr lvl="0"/>
            <a:r>
              <a:rPr lang="en-GB" dirty="0"/>
              <a:t>Improved tuning skills for structured ML algorithms</a:t>
            </a:r>
          </a:p>
          <a:p>
            <a:r>
              <a:rPr lang="en-GB" dirty="0"/>
              <a:t>Gained insight into balancing accuracy with stability</a:t>
            </a:r>
          </a:p>
        </p:txBody>
      </p:sp>
    </p:spTree>
    <p:extLst>
      <p:ext uri="{BB962C8B-B14F-4D97-AF65-F5344CB8AC3E}">
        <p14:creationId xmlns:p14="http://schemas.microsoft.com/office/powerpoint/2010/main" val="1174887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Future Thoughts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Would explore feature selection for EEG data</a:t>
            </a:r>
          </a:p>
          <a:p>
            <a:pPr lvl="0"/>
            <a:r>
              <a:rPr lang="en-GB" dirty="0"/>
              <a:t>Interested in testing ensemble methods beyond Random Forest</a:t>
            </a:r>
          </a:p>
          <a:p>
            <a:pPr lvl="0"/>
            <a:r>
              <a:rPr lang="en-GB" dirty="0"/>
              <a:t>Would try combining classical ML with deep features</a:t>
            </a:r>
          </a:p>
          <a:p>
            <a:pPr lvl="0"/>
            <a:r>
              <a:rPr lang="en-GB" dirty="0"/>
              <a:t>Curious about using wavelet features for emotion tasks</a:t>
            </a:r>
          </a:p>
          <a:p>
            <a:pPr lvl="0"/>
            <a:r>
              <a:rPr lang="en-GB" dirty="0"/>
              <a:t>Want to expand training using multi-class labels</a:t>
            </a:r>
          </a:p>
          <a:p>
            <a:pPr lvl="0"/>
            <a:r>
              <a:rPr lang="en-GB" dirty="0"/>
              <a:t>Wish to </a:t>
            </a:r>
            <a:r>
              <a:rPr lang="en-GB" dirty="0" err="1"/>
              <a:t>analyze</a:t>
            </a:r>
            <a:r>
              <a:rPr lang="en-GB" dirty="0"/>
              <a:t> how channel selection influences accuracy</a:t>
            </a:r>
          </a:p>
          <a:p>
            <a:pPr lvl="0"/>
            <a:r>
              <a:rPr lang="en-GB" dirty="0"/>
              <a:t>Interested in building lightweight models for deployment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0195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Reflection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GB" dirty="0"/>
              <a:t>Worked collaboratively across all stages of the project</a:t>
            </a:r>
          </a:p>
          <a:p>
            <a:pPr lvl="0"/>
            <a:r>
              <a:rPr lang="en-GB" dirty="0"/>
              <a:t>Shared ideas to improve </a:t>
            </a:r>
            <a:r>
              <a:rPr lang="en-GB" dirty="0" err="1"/>
              <a:t>preprocessing</a:t>
            </a:r>
            <a:r>
              <a:rPr lang="en-GB" dirty="0"/>
              <a:t> and tuning</a:t>
            </a:r>
          </a:p>
          <a:p>
            <a:pPr lvl="0"/>
            <a:r>
              <a:rPr lang="en-GB" dirty="0"/>
              <a:t>Combined strengths from different model approaches</a:t>
            </a:r>
          </a:p>
          <a:p>
            <a:pPr lvl="0"/>
            <a:r>
              <a:rPr lang="en-GB" dirty="0"/>
              <a:t>Learned importance of communication and task planning</a:t>
            </a:r>
          </a:p>
          <a:p>
            <a:pPr lvl="0"/>
            <a:r>
              <a:rPr lang="en-GB" dirty="0"/>
              <a:t>Compared models to understand EEG challenges</a:t>
            </a:r>
          </a:p>
          <a:p>
            <a:pPr lvl="0"/>
            <a:r>
              <a:rPr lang="en-GB" dirty="0"/>
              <a:t>Gained technical and analytical skills as a team</a:t>
            </a:r>
          </a:p>
          <a:p>
            <a:pPr lvl="0"/>
            <a:r>
              <a:rPr lang="en-GB" dirty="0"/>
              <a:t>Delivered a complete research workflow end-to-end</a:t>
            </a:r>
          </a:p>
          <a:p>
            <a:pPr lvl="0"/>
            <a:r>
              <a:rPr lang="en-GB" dirty="0"/>
              <a:t>Worked collaboratively across all stages of the project</a:t>
            </a:r>
          </a:p>
          <a:p>
            <a:pPr lvl="0"/>
            <a:r>
              <a:rPr lang="en-GB" dirty="0"/>
              <a:t>Shared ideas to improve </a:t>
            </a:r>
            <a:r>
              <a:rPr lang="en-GB" dirty="0" err="1"/>
              <a:t>preprocessing</a:t>
            </a:r>
            <a:r>
              <a:rPr lang="en-GB" dirty="0"/>
              <a:t> and tuning</a:t>
            </a:r>
          </a:p>
          <a:p>
            <a:pPr lvl="0"/>
            <a:r>
              <a:rPr lang="en-GB" dirty="0"/>
              <a:t>Combined strengths from different model approaches</a:t>
            </a:r>
          </a:p>
          <a:p>
            <a:pPr lvl="0"/>
            <a:r>
              <a:rPr lang="en-GB" dirty="0"/>
              <a:t>Learned importance of communication and task planning</a:t>
            </a:r>
          </a:p>
          <a:p>
            <a:pPr lvl="0"/>
            <a:r>
              <a:rPr lang="en-GB" dirty="0"/>
              <a:t>Compared models to understand EEG challenges</a:t>
            </a:r>
          </a:p>
          <a:p>
            <a:pPr lvl="0"/>
            <a:r>
              <a:rPr lang="en-GB" dirty="0"/>
              <a:t>Gained technical and analytical skills as a team</a:t>
            </a:r>
          </a:p>
          <a:p>
            <a:pPr lvl="0"/>
            <a:r>
              <a:rPr lang="en-GB" dirty="0"/>
              <a:t>Delivered a complete research workflow end-to-end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157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this project</a:t>
            </a:r>
          </a:p>
          <a:p>
            <a:pPr lvl="1"/>
            <a:r>
              <a:rPr lang="en-US" dirty="0"/>
              <a:t>We Gained practical experience handling complex EEG data</a:t>
            </a:r>
          </a:p>
          <a:p>
            <a:pPr lvl="1"/>
            <a:r>
              <a:rPr lang="en-US" dirty="0"/>
              <a:t>Built reliable preprocessing and segmentation pipeline</a:t>
            </a:r>
          </a:p>
          <a:p>
            <a:pPr lvl="1"/>
            <a:r>
              <a:rPr lang="en-US" dirty="0"/>
              <a:t>Compared diverse models across training conditions</a:t>
            </a:r>
          </a:p>
          <a:p>
            <a:pPr lvl="1"/>
            <a:r>
              <a:rPr lang="en-US" dirty="0"/>
              <a:t>Understood challenges of small EEG datasets</a:t>
            </a:r>
          </a:p>
          <a:p>
            <a:pPr lvl="1"/>
            <a:r>
              <a:rPr lang="en-US" dirty="0"/>
              <a:t>Saw fine-tuning improve accuracy and stability</a:t>
            </a:r>
          </a:p>
          <a:p>
            <a:pPr lvl="1"/>
            <a:r>
              <a:rPr lang="en-US" dirty="0"/>
              <a:t>Identified strengths of each learning method</a:t>
            </a:r>
          </a:p>
          <a:p>
            <a:pPr lvl="1"/>
            <a:r>
              <a:rPr lang="en-US" dirty="0"/>
              <a:t>Random Forest showed strongest balanced improvement</a:t>
            </a:r>
          </a:p>
          <a:p>
            <a:pPr lvl="1"/>
            <a:r>
              <a:rPr lang="en-US" dirty="0"/>
              <a:t>Future work needs richer data and deeper models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3336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244</TotalTime>
  <Words>1093</Words>
  <Application>Microsoft Office PowerPoint</Application>
  <PresentationFormat>Widescreen</PresentationFormat>
  <Paragraphs>154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Century Gothic</vt:lpstr>
      <vt:lpstr>Wingdings</vt:lpstr>
      <vt:lpstr>Wingdings 3</vt:lpstr>
      <vt:lpstr>Ion</vt:lpstr>
      <vt:lpstr>  Transfer Learning Emotion Recognition</vt:lpstr>
      <vt:lpstr>Abstract </vt:lpstr>
      <vt:lpstr>Introduction </vt:lpstr>
      <vt:lpstr>ResNet50 Model: Thanuj Kumar Gummadavelli </vt:lpstr>
      <vt:lpstr>ResNet50 Model</vt:lpstr>
      <vt:lpstr>What I Learned</vt:lpstr>
      <vt:lpstr>Future Work</vt:lpstr>
      <vt:lpstr>1D-CNN: Karthik Tagore</vt:lpstr>
      <vt:lpstr>My Contribution (1D-CNN)</vt:lpstr>
      <vt:lpstr>What I Learned</vt:lpstr>
      <vt:lpstr>Future Thoughts and Extensions</vt:lpstr>
      <vt:lpstr>LSTM: Pavan Kalyan Reddy Pochugari </vt:lpstr>
      <vt:lpstr>My Role in the Project</vt:lpstr>
      <vt:lpstr>What I Learned</vt:lpstr>
      <vt:lpstr>Future Thoughts and Extensions</vt:lpstr>
      <vt:lpstr>Random Forest Model: Naga Venkata Ayyappa Swamy Madamala</vt:lpstr>
      <vt:lpstr>My Role in the Project</vt:lpstr>
      <vt:lpstr>What I Learned</vt:lpstr>
      <vt:lpstr>Future Thoughts </vt:lpstr>
      <vt:lpstr>Team Reflection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</dc:creator>
  <cp:lastModifiedBy>THANUJKUMAR GUMMADAVELLI</cp:lastModifiedBy>
  <cp:revision>72</cp:revision>
  <dcterms:created xsi:type="dcterms:W3CDTF">2025-11-04T01:36:41Z</dcterms:created>
  <dcterms:modified xsi:type="dcterms:W3CDTF">2025-12-12T02:49:03Z</dcterms:modified>
</cp:coreProperties>
</file>